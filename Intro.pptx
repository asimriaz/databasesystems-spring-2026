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114" y="240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 /><Relationship Id="rId42" Type="http://schemas.openxmlformats.org/officeDocument/2006/relationships/tableStyles" Target="tableStyles.xml" /><Relationship Id="rId4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613BBD-12F6-60B1-274A-BFC1DBA18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13935-3961-BC4A-C23F-6F51C55583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86CE69-9FE4-C109-805A-0E3BECCE21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A39A55-D3CF-C2E2-88D3-9C52B05D8C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1CC295-E71E-1EDF-F336-F06218B84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1773AA-9624-3EF3-080D-FFD7D22D2C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A9D58-6389-C2AD-2BD4-5AC88477A2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EB4BDD-9356-8F14-0706-4F14D10424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564AF-D929-E21C-31BA-B43400E009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6D5325-F95A-6ECC-A137-6D96F0A834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26AB4-05AC-F508-5F46-5FD739AC5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926CD1-12FF-2DB8-495D-E3A330DAD1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4B8EB9-13E1-7631-2E50-130301B0EA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D0A329-170A-D85F-0427-FFF184C00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EFF354-1CB1-718E-0D4B-E35A792D20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7B4C4E-1440-E98D-ADBD-5F5160C28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D696E-743D-E74B-245D-9C13868A5C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91F83-2723-92A6-BA82-738F12D4B9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EFCA3-6B60-5111-4A35-F72D96E11E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E4CA-46B6-20EC-3D49-9875FEEE6A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B5D8DD-DFA5-DBF3-5F35-65EF7F4D9E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303144-8492-C53D-9995-B688F21CE7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58950F-6348-98DD-8DDC-AA3A14A283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B9637-4B6F-9CEB-7B22-5B0703AA8D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42D8D9-672D-0FD7-A011-79AB58CA51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7815F-28C4-5153-ABA4-84F0A496E6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D1A5C1-3C9E-C1B9-90C1-CB147FB24C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3E62C7-D5F6-8C0C-6B28-49258C380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79F6E2-26FB-CA39-26FE-517DC4AD7A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C297E1-18DA-EF12-7EF3-8EEC51313A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E4FD6E-C00E-5011-2658-4114290E35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80FFC-1D66-7859-5682-639B409E4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A892BD-73CC-4242-099B-1A3BE5E7EF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2BF0ED-BE4B-F110-5D13-30389B5D2C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777AE4-FD62-20D4-E751-9F837099D7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0C74C2-7792-2616-ED56-A98E66B140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84168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8144619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9206096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8724742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60042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6711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788985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5505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392341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8294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11380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08401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09522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6533013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125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54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1362524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60581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1459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7235809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86081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9879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101233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12649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147536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31046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846040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30647517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1118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6622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86068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2186862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87244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6541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79267315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87484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4929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1440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592947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30289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975913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11679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5882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801363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313287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71287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9382141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47828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488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253010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002205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9875463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57892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0479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861468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705707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9225206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10411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91169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05884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025520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83FC6D2-30AA-4558-8012-F5837F23A629}" type="datetimeFigureOut">
              <a:rPr lang="en-US"/>
              <a:t>2/20/2025</a:t>
            </a:fld>
            <a:endParaRPr lang="en-US"/>
          </a:p>
        </p:txBody>
      </p:sp>
      <p:sp>
        <p:nvSpPr>
          <p:cNvPr id="11441461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920719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C9601A6-6DF7-4714-B19E-0F185B58702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asim.riaz@szabist.edu.pk" TargetMode="External"/><Relationship Id="rId4" Type="http://schemas.openxmlformats.org/officeDocument/2006/relationships/hyperlink" Target="mailto:asim.riaz@szabist.pk" TargetMode="Externa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148036" name="Title 1"/>
          <p:cNvSpPr>
            <a:spLocks noGrp="1"/>
          </p:cNvSpPr>
          <p:nvPr>
            <p:ph type="ctrTitle"/>
          </p:nvPr>
        </p:nvSpPr>
        <p:spPr bwMode="auto">
          <a:xfrm>
            <a:off x="1524000" y="2117612"/>
            <a:ext cx="9144000" cy="1148900"/>
          </a:xfrm>
        </p:spPr>
        <p:txBody>
          <a:bodyPr/>
          <a:lstStyle/>
          <a:p>
            <a:pPr>
              <a:defRPr/>
            </a:pPr>
            <a:r>
              <a:rPr lang="en-US"/>
              <a:t>Relational Database Systems</a:t>
            </a:r>
            <a:endParaRPr/>
          </a:p>
        </p:txBody>
      </p:sp>
      <p:sp>
        <p:nvSpPr>
          <p:cNvPr id="25900329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903259"/>
            <a:ext cx="9144000" cy="7506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Lecture 1</a:t>
            </a:r>
            <a:endParaRPr/>
          </a:p>
        </p:txBody>
      </p:sp>
      <p:sp>
        <p:nvSpPr>
          <p:cNvPr id="877691815" name="Subtitle 2"/>
          <p:cNvSpPr txBox="1"/>
          <p:nvPr/>
        </p:nvSpPr>
        <p:spPr bwMode="auto">
          <a:xfrm>
            <a:off x="1524000" y="884792"/>
            <a:ext cx="9144000" cy="805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/>
              <a:t>Spring 2026</a:t>
            </a:r>
            <a:endParaRPr/>
          </a:p>
        </p:txBody>
      </p:sp>
      <p:sp>
        <p:nvSpPr>
          <p:cNvPr id="736563240" name="Subtitle 2"/>
          <p:cNvSpPr txBox="1"/>
          <p:nvPr/>
        </p:nvSpPr>
        <p:spPr bwMode="auto">
          <a:xfrm>
            <a:off x="7110484" y="5928853"/>
            <a:ext cx="4865210" cy="72610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4000"/>
          </a:p>
          <a:p>
            <a:pPr algn="r">
              <a:defRPr/>
            </a:pPr>
            <a:r>
              <a:rPr lang="en-US" sz="11200"/>
              <a:t>Asim Riaz, SZABIST Karachi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1213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Lecture Outline (1/2)</a:t>
            </a:r>
            <a:endParaRPr/>
          </a:p>
        </p:txBody>
      </p:sp>
      <p:sp>
        <p:nvSpPr>
          <p:cNvPr id="473573952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Course Details</a:t>
            </a:r>
            <a:endParaRPr/>
          </a:p>
          <a:p>
            <a:pPr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Class Timings</a:t>
            </a:r>
            <a:endParaRPr/>
          </a:p>
          <a:p>
            <a:pPr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What this Course is All About?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Course Description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Course Objectives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Learning Outcomes</a:t>
            </a:r>
            <a:endParaRPr/>
          </a:p>
          <a:p>
            <a:pPr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Syllabus / Course Plan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Textbook and Reference Books</a:t>
            </a:r>
            <a:endParaRPr/>
          </a:p>
          <a:p>
            <a:pPr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Marks Distribution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Test (N-1)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Midterm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Final Term</a:t>
            </a:r>
            <a:endParaRPr/>
          </a:p>
          <a:p>
            <a:pPr lvl="1">
              <a:lnSpc>
                <a:spcPct val="120000"/>
              </a:lnSpc>
              <a:buFont typeface="Wingdings"/>
              <a:buChar char="§"/>
              <a:defRPr/>
            </a:pPr>
            <a:r>
              <a:rPr lang="en-US"/>
              <a:t>Project</a:t>
            </a:r>
            <a:endParaRPr/>
          </a:p>
          <a:p>
            <a:pPr>
              <a:buFont typeface="Wingdings"/>
              <a:buChar char="§"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583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Lecture Outline (2/2)</a:t>
            </a:r>
            <a:endParaRPr/>
          </a:p>
        </p:txBody>
      </p:sp>
      <p:sp>
        <p:nvSpPr>
          <p:cNvPr id="780588212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Learning Methodology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Materials and Supplies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Class Conduct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Academic Dishonesty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Class Attendance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Grading Policy</a:t>
            </a:r>
            <a:endParaRPr/>
          </a:p>
          <a:p>
            <a:pPr>
              <a:lnSpc>
                <a:spcPct val="150000"/>
              </a:lnSpc>
              <a:buFont typeface="Wingdings"/>
              <a:buChar char="§"/>
              <a:defRPr/>
            </a:pPr>
            <a:r>
              <a:rPr lang="en-US"/>
              <a:t>Instructor’s Contact and Meeting Time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11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Course Details</a:t>
            </a:r>
            <a:endParaRPr/>
          </a:p>
        </p:txBody>
      </p:sp>
      <p:sp>
        <p:nvSpPr>
          <p:cNvPr id="19652915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Name:	Database Systems </a:t>
            </a:r>
            <a:endParaRPr/>
          </a:p>
          <a:p>
            <a:pPr>
              <a:defRPr/>
            </a:pPr>
            <a:r>
              <a:rPr lang="en-US"/>
              <a:t>Code: 	CSC2203</a:t>
            </a:r>
            <a:endParaRPr/>
          </a:p>
          <a:p>
            <a:pPr>
              <a:defRPr/>
            </a:pPr>
            <a:r>
              <a:rPr lang="en-US"/>
              <a:t>Credits:	4</a:t>
            </a:r>
            <a:endParaRPr/>
          </a:p>
          <a:p>
            <a:pPr lvl="1">
              <a:defRPr/>
            </a:pPr>
            <a:r>
              <a:rPr lang="en-US"/>
              <a:t>Theory:	3	</a:t>
            </a:r>
            <a:endParaRPr/>
          </a:p>
          <a:p>
            <a:pPr lvl="1">
              <a:defRPr/>
            </a:pPr>
            <a:r>
              <a:rPr lang="en-US"/>
              <a:t>Lab:	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8723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Class Timings – Sec IV-C</a:t>
            </a:r>
            <a:endParaRPr/>
          </a:p>
        </p:txBody>
      </p:sp>
      <p:graphicFrame>
        <p:nvGraphicFramePr>
          <p:cNvPr id="744468511" name="Content Placeholder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528549" y="2500254"/>
          <a:ext cx="9357057" cy="3813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189949"/>
                <a:gridCol w="7167108"/>
              </a:tblGrid>
              <a:tr h="3813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u="none" strike="noStrike"/>
                        <a:t>Monday, Wednesday and 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marL="0" marR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4:15 - 6:30 CS Lab 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212645930" name="Content Placeholder 2"/>
          <p:cNvSpPr txBox="1"/>
          <p:nvPr/>
        </p:nvSpPr>
        <p:spPr bwMode="auto">
          <a:xfrm>
            <a:off x="838200" y="1825625"/>
            <a:ext cx="10515600" cy="3580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Theory:</a:t>
            </a:r>
            <a:endParaRPr/>
          </a:p>
        </p:txBody>
      </p:sp>
      <p:sp>
        <p:nvSpPr>
          <p:cNvPr id="2047252140" name="Content Placeholder 2"/>
          <p:cNvSpPr txBox="1"/>
          <p:nvPr/>
        </p:nvSpPr>
        <p:spPr bwMode="auto">
          <a:xfrm>
            <a:off x="840472" y="3793183"/>
            <a:ext cx="10515600" cy="3580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Lab:</a:t>
            </a:r>
            <a:endParaRPr/>
          </a:p>
        </p:txBody>
      </p:sp>
      <p:graphicFrame>
        <p:nvGraphicFramePr>
          <p:cNvPr id="1158932846" name="Content Placeholder 3"/>
          <p:cNvGraphicFramePr>
            <a:graphicFrameLocks xmlns:a="http://schemas.openxmlformats.org/drawingml/2006/main"/>
          </p:cNvGraphicFramePr>
          <p:nvPr/>
        </p:nvGraphicFramePr>
        <p:xfrm rot="0">
          <a:off x="1528549" y="4405013"/>
          <a:ext cx="9357058" cy="3813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252876"/>
                <a:gridCol w="3971925"/>
                <a:gridCol w="3132256"/>
              </a:tblGrid>
              <a:tr h="3813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u="none" strike="noStrike"/>
                        <a:t>Wednesday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marL="0" marR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1:30 - 4:00 Lab 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marL="0" marR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Instructor: 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1482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Class Timings – Sec IV-F</a:t>
            </a:r>
            <a:endParaRPr/>
          </a:p>
        </p:txBody>
      </p:sp>
      <p:graphicFrame>
        <p:nvGraphicFramePr>
          <p:cNvPr id="779002947" name="Content Placeholder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528549" y="2500254"/>
          <a:ext cx="9357057" cy="7626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189949"/>
                <a:gridCol w="7167108"/>
              </a:tblGrid>
              <a:tr h="3813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Tuesday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11:45 - 13:15  Lab 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13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u="none" strike="noStrike"/>
                        <a:t>Thursday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p>
                      <a:pPr marL="0" marR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11:45 - 13:15 Lab 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14908854" name="Content Placeholder 2"/>
          <p:cNvSpPr txBox="1"/>
          <p:nvPr/>
        </p:nvSpPr>
        <p:spPr bwMode="auto">
          <a:xfrm>
            <a:off x="838200" y="1825625"/>
            <a:ext cx="10515600" cy="3580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Theory:</a:t>
            </a:r>
            <a:endParaRPr/>
          </a:p>
        </p:txBody>
      </p:sp>
      <p:sp>
        <p:nvSpPr>
          <p:cNvPr id="2049790354" name="Content Placeholder 2"/>
          <p:cNvSpPr txBox="1"/>
          <p:nvPr/>
        </p:nvSpPr>
        <p:spPr bwMode="auto">
          <a:xfrm>
            <a:off x="840472" y="3793183"/>
            <a:ext cx="10515600" cy="3580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Lab:</a:t>
            </a:r>
            <a:endParaRPr/>
          </a:p>
        </p:txBody>
      </p:sp>
      <p:graphicFrame>
        <p:nvGraphicFramePr>
          <p:cNvPr id="2093777700" name="Content Placeholder 3"/>
          <p:cNvGraphicFramePr>
            <a:graphicFrameLocks xmlns:a="http://schemas.openxmlformats.org/drawingml/2006/main"/>
          </p:cNvGraphicFramePr>
          <p:nvPr/>
        </p:nvGraphicFramePr>
        <p:xfrm rot="0">
          <a:off x="1544472" y="4303059"/>
          <a:ext cx="9357057" cy="34862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9357057"/>
              </a:tblGrid>
              <a:tr h="3486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per departmental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chedule                          Instructor: Abid Ali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203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this Course is All About?</a:t>
            </a:r>
            <a:endParaRPr/>
          </a:p>
        </p:txBody>
      </p:sp>
      <p:sp>
        <p:nvSpPr>
          <p:cNvPr id="41058808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buFont typeface="Wingdings"/>
              <a:buChar char="§"/>
              <a:defRPr/>
            </a:pPr>
            <a:r>
              <a:rPr lang="en-US"/>
              <a:t>Course introduces students to: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Fundamental as well as core database concepts 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Understanding Database Systems and How they Work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Modeling Databases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Creating Databases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Using Databases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Querying Language(s).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Creating Data Driven Software Applications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Transaction and Query Processing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Database Internals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9702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this Course is All About?</a:t>
            </a:r>
            <a:endParaRPr/>
          </a:p>
        </p:txBody>
      </p:sp>
      <p:sp>
        <p:nvSpPr>
          <p:cNvPr id="63571629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buFont typeface="Wingdings"/>
              <a:buChar char="§"/>
              <a:defRPr/>
            </a:pPr>
            <a:r>
              <a:rPr lang="en-US"/>
              <a:t>Objectives and Learning Outcomes: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Provides theoretical &amp; practical understanding of Database systems, query language and database tools to help you design and create databases and the database driven software applications. 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1343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Theory Syllabus / Course Plan (1/2)</a:t>
            </a:r>
            <a:endParaRPr/>
          </a:p>
        </p:txBody>
      </p:sp>
      <p:graphicFrame>
        <p:nvGraphicFramePr>
          <p:cNvPr id="732928121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680434" y="1849159"/>
          <a:ext cx="10831132" cy="464517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735311"/>
                <a:gridCol w="1425062"/>
                <a:gridCol w="8670758"/>
              </a:tblGrid>
              <a:tr h="301661">
                <a:tc gridSpan="3"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Theory</a:t>
                      </a:r>
                      <a:r>
                        <a:rPr lang="en-US" sz="1800" b="1"/>
                        <a:t> </a:t>
                      </a:r>
                      <a:r>
                        <a:rPr lang="en-US" sz="1800" b="1"/>
                        <a:t>Course Plan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0166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Week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Chapters</a:t>
                      </a:r>
                      <a:endParaRPr/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Session Topic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919603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A1, B1 and B2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An Introduction of Database Systems, Structure / Architecture of a DBMS, Advantages of Databases, Data Abstractions, Example database application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370794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2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A2, B3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Data Models, Hierarchical and Network Model  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36151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A2, B3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Relational Model 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532539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4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A7, B7 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Basic SQL: DDL, DML, Constraints, SQL Data Types 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416397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A7, B8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Intermediate SQL: Joins, Integrity Constraints, Schema Change Statements</a:t>
                      </a:r>
                      <a:endParaRPr/>
                    </a:p>
                  </a:txBody>
                  <a:tcPr marL="27965" marR="27965" marT="27965" marB="27965" anchor="ctr"/>
                </a:tc>
              </a:tr>
              <a:tr h="36848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6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A8,B15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Conceptual Modeling and Database Design – EER Modeling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48579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7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A8,B15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Conceptual Modeling and Database Design – EER Modeling (Cont.)</a:t>
                      </a:r>
                      <a:endParaRPr/>
                    </a:p>
                  </a:txBody>
                  <a:tcPr marL="27965" marR="27965" marT="27965" marB="27965" anchor="ctr"/>
                </a:tc>
              </a:tr>
              <a:tr h="48579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8</a:t>
                      </a:r>
                      <a:endParaRPr/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-</a:t>
                      </a:r>
                      <a:endParaRPr/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/>
                        <a:t>Midterm</a:t>
                      </a:r>
                      <a:endParaRPr/>
                    </a:p>
                  </a:txBody>
                  <a:tcPr marL="27965" marR="27965" marT="27965" marB="2796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9349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Theory Syllabus / Course Plan (2/2)</a:t>
            </a:r>
            <a:endParaRPr/>
          </a:p>
        </p:txBody>
      </p:sp>
      <p:graphicFrame>
        <p:nvGraphicFramePr>
          <p:cNvPr id="200742904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750907" y="1559762"/>
          <a:ext cx="10690185" cy="4836709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681952"/>
                <a:gridCol w="2019199"/>
                <a:gridCol w="7989034"/>
              </a:tblGrid>
              <a:tr h="297242">
                <a:tc gridSpan="3"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Theory</a:t>
                      </a:r>
                      <a:r>
                        <a:rPr lang="en-US" sz="1800" b="1"/>
                        <a:t> </a:t>
                      </a:r>
                      <a:r>
                        <a:rPr lang="en-US" sz="1800" b="1"/>
                        <a:t>Course Plan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41524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Week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Chapters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Session Topic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8061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9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A3, B4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u="none"/>
                        <a:t>Functional Dependencies and Normalization</a:t>
                      </a:r>
                      <a:endParaRPr lang="en-US" sz="2000" u="none"/>
                    </a:p>
                  </a:txBody>
                  <a:tcPr marL="27965" marR="27965" marT="27965" marB="27965" anchor="ctr"/>
                </a:tc>
              </a:tr>
              <a:tr h="395007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10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A4 and A5, B5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u="none"/>
                        <a:t>Formal Relational Query Languages OR Relational Algebra &amp; Relational </a:t>
                      </a:r>
                      <a:r>
                        <a:rPr lang="en-US" sz="1800" u="none"/>
                        <a:t>Calculu</a:t>
                      </a:r>
                      <a:r>
                        <a:rPr lang="en-US" sz="1800" u="none"/>
                        <a:t>	</a:t>
                      </a:r>
                      <a:endParaRPr/>
                    </a:p>
                  </a:txBody>
                  <a:tcPr marL="27965" marR="27965" marT="27965" marB="27965" anchor="ctr"/>
                </a:tc>
              </a:tr>
              <a:tr h="589133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11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A6, B6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indent="0" algn="l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/>
                        <a:t>Advanced SQL: Views, Triggers, Functions and Procedures</a:t>
                      </a:r>
                      <a:endParaRPr lang="en-US" sz="2400"/>
                    </a:p>
                  </a:txBody>
                  <a:tcPr marL="27965" marR="27965" marT="27965" marB="27965" anchor="ctr"/>
                </a:tc>
              </a:tr>
              <a:tr h="66041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12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A14, A15, A16,  B21, B22, B23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u="sng"/>
                        <a:t>Transaction Management</a:t>
                      </a:r>
                      <a:r>
                        <a:rPr lang="en-US" sz="1800"/>
                        <a:t>: ACID Properties, Concurrency Control and Recovery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56022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A20, A21, B27 and B28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Concurrency Control and Lock Management and Deadlocks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4412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14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Basics about - Data Warehousing, Data Mining, Information Retrieval, Big Data, XML, NOSQL Databases, TSQL </a:t>
                      </a:r>
                      <a:r>
                        <a:rPr lang="en-US" sz="1800" b="1"/>
                        <a:t>(Optional)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53334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Final Exam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0975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16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Project Demonstration (Tentative) OR in 15</a:t>
                      </a:r>
                      <a:r>
                        <a:rPr lang="en-US" sz="1800" b="1" baseline="30000"/>
                        <a:t>th</a:t>
                      </a:r>
                      <a:r>
                        <a:rPr lang="en-US" sz="1800" b="1"/>
                        <a:t> week</a:t>
                      </a:r>
                      <a:r>
                        <a:rPr lang="en-US" sz="1800"/>
                        <a:t>.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14593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Books</a:t>
            </a:r>
            <a:endParaRPr/>
          </a:p>
        </p:txBody>
      </p:sp>
      <p:sp>
        <p:nvSpPr>
          <p:cNvPr id="140929194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Textbooks:</a:t>
            </a:r>
            <a:endParaRPr/>
          </a:p>
          <a:p>
            <a:pPr>
              <a:defRPr/>
            </a:pPr>
            <a:endParaRPr lang="en-US"/>
          </a:p>
          <a:p>
            <a:pPr marL="914400" lvl="1" indent="-457200">
              <a:buAutoNum type="alphaUcPeriod"/>
              <a:defRPr/>
            </a:pPr>
            <a:r>
              <a:rPr lang="en-US" b="1"/>
              <a:t>Database System Concepts 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	by </a:t>
            </a:r>
            <a:r>
              <a:rPr lang="en-US"/>
              <a:t>Silberschatz</a:t>
            </a:r>
            <a:r>
              <a:rPr lang="en-US"/>
              <a:t>, H. F. </a:t>
            </a:r>
            <a:r>
              <a:rPr lang="en-US"/>
              <a:t>Korth</a:t>
            </a:r>
            <a:r>
              <a:rPr lang="en-US"/>
              <a:t> &amp; S. </a:t>
            </a:r>
            <a:r>
              <a:rPr lang="en-US"/>
              <a:t>Sudarshan</a:t>
            </a:r>
            <a:endParaRPr lang="en-US"/>
          </a:p>
          <a:p>
            <a:pPr marL="457200" lvl="1" indent="0">
              <a:buNone/>
              <a:defRPr/>
            </a:pPr>
            <a:r>
              <a:rPr lang="en-US"/>
              <a:t>       McGraw Hill, 7th edition </a:t>
            </a:r>
            <a:r>
              <a:rPr lang="en-US" b="1"/>
              <a:t>	</a:t>
            </a:r>
            <a:endParaRPr/>
          </a:p>
          <a:p>
            <a:pPr marL="457200" lvl="1" indent="0">
              <a:buNone/>
              <a:defRPr/>
            </a:pPr>
            <a:endParaRPr lang="en-US" b="1"/>
          </a:p>
          <a:p>
            <a:pPr marL="457200" lvl="1" indent="0">
              <a:buNone/>
              <a:defRPr/>
            </a:pPr>
            <a:r>
              <a:rPr lang="en-US" b="1"/>
              <a:t>B.	Fundamentals of Database Systems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	by R. </a:t>
            </a:r>
            <a:r>
              <a:rPr lang="en-US"/>
              <a:t>Elmasri</a:t>
            </a:r>
            <a:r>
              <a:rPr lang="en-US"/>
              <a:t> &amp; S. B. </a:t>
            </a:r>
            <a:r>
              <a:rPr lang="en-US"/>
              <a:t>Navathe</a:t>
            </a:r>
            <a:r>
              <a:rPr lang="en-US"/>
              <a:t>.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 	Addison Wesley, 6th edition, 2010 OR 7th edition, 2017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Selected Chapters and topics from both Books as described in course plan (refer to Chapters with A &amp; B indexes) would be covered in class. </a:t>
            </a:r>
            <a:endParaRPr/>
          </a:p>
          <a:p>
            <a:pPr marL="0" indent="0">
              <a:buNone/>
              <a:defRPr/>
            </a:pPr>
            <a:br>
              <a:rPr lang="en-US"/>
            </a:b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74216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Books</a:t>
            </a:r>
            <a:endParaRPr/>
          </a:p>
        </p:txBody>
      </p:sp>
      <p:sp>
        <p:nvSpPr>
          <p:cNvPr id="149994999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Reference Books: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b="1"/>
              <a:t>A Practical Approach to Design, Implementation, and Management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T. Connolly &amp; C. </a:t>
            </a:r>
            <a:r>
              <a:rPr lang="en-US"/>
              <a:t>Begg</a:t>
            </a:r>
            <a:r>
              <a:rPr lang="en-US"/>
              <a:t>. Database Systems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Addison Wesley, 6th edition, 2014. </a:t>
            </a:r>
            <a:endParaRPr/>
          </a:p>
          <a:p>
            <a:pPr marL="457200" lvl="1" indent="0">
              <a:buNone/>
              <a:defRPr/>
            </a:pPr>
            <a:endParaRPr lang="en-US" b="1"/>
          </a:p>
          <a:p>
            <a:pPr marL="457200" lvl="1" indent="0">
              <a:buNone/>
              <a:defRPr/>
            </a:pPr>
            <a:r>
              <a:rPr lang="en-US" b="1"/>
              <a:t>2.	Database Systems: The Complete Book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Molina, J. D. Ullman &amp; J. </a:t>
            </a:r>
            <a:r>
              <a:rPr lang="en-US"/>
              <a:t>Widom</a:t>
            </a:r>
            <a:endParaRPr lang="en-US"/>
          </a:p>
          <a:p>
            <a:pPr marL="457200" lvl="1" indent="0">
              <a:buNone/>
              <a:defRPr/>
            </a:pPr>
            <a:r>
              <a:rPr lang="en-US"/>
              <a:t>Prentice Hall, 2nd edition, 2008. H. Garcia</a:t>
            </a:r>
            <a:endParaRPr/>
          </a:p>
          <a:p>
            <a:pPr marL="457200" lvl="1" indent="0">
              <a:buNone/>
              <a:defRPr/>
            </a:pPr>
            <a:endParaRPr lang="en-US" b="1"/>
          </a:p>
          <a:p>
            <a:pPr marL="457200" lvl="1" indent="0">
              <a:buNone/>
              <a:defRPr/>
            </a:pPr>
            <a:r>
              <a:rPr lang="en-US" b="1"/>
              <a:t>3.	Database Management Systems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Raghu </a:t>
            </a:r>
            <a:r>
              <a:rPr lang="en-US"/>
              <a:t>Ramakrishnan</a:t>
            </a:r>
            <a:endParaRPr lang="en-US"/>
          </a:p>
          <a:p>
            <a:pPr marL="457200" lvl="1" indent="0">
              <a:buNone/>
              <a:defRPr/>
            </a:pPr>
            <a:r>
              <a:rPr lang="en-US"/>
              <a:t>McGraw Hill, 3rd Edition, 2003</a:t>
            </a:r>
            <a:endParaRPr/>
          </a:p>
          <a:p>
            <a:pPr marL="457200" lvl="1" indent="0">
              <a:buNone/>
              <a:defRPr/>
            </a:pP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542367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Lab Syllabus / Course Plan (1/2)</a:t>
            </a:r>
            <a:endParaRPr/>
          </a:p>
        </p:txBody>
      </p:sp>
      <p:graphicFrame>
        <p:nvGraphicFramePr>
          <p:cNvPr id="1429894823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837127" y="1789139"/>
          <a:ext cx="10831132" cy="4951837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735311"/>
                <a:gridCol w="1425062"/>
                <a:gridCol w="8670758"/>
              </a:tblGrid>
              <a:tr h="301661">
                <a:tc gridSpan="3"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Lab</a:t>
                      </a:r>
                      <a:r>
                        <a:rPr lang="en-US" sz="1800" b="1"/>
                        <a:t> </a:t>
                      </a:r>
                      <a:r>
                        <a:rPr lang="en-US" sz="1800" b="1"/>
                        <a:t>Course Plan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0166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Week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Chapters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Session Topic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919603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Oracle 12c/11g – Installation, Connectivity, Basic How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to’s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370794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2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Basic SQL Statements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36151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Single Row Functions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532539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4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Aggregating Data &amp; Group Functions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[ SQL Queries: Graded 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LabWork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Task-1 / Lab Assign-1 ]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  <a:tr h="416397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Developer – Oracle Forms - Creating and Using Forms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  <a:tr h="36848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6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Developer – Oracle Forms and Reports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[Oracle Forms &amp; Reports: Graded 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LabWork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Task-2 &amp; Lab Assign-2] 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  <a:tr h="48579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7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Joins &amp;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Subqueries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  <a:tr h="48579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8</a:t>
                      </a:r>
                      <a:endParaRPr/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Modifying Data 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09365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/>
              <a:t>Lab Syllabus / Course Plan (2/2)</a:t>
            </a:r>
            <a:endParaRPr/>
          </a:p>
        </p:txBody>
      </p:sp>
      <p:graphicFrame>
        <p:nvGraphicFramePr>
          <p:cNvPr id="622134826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1197735" y="1467164"/>
          <a:ext cx="10027616" cy="530743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639685"/>
                <a:gridCol w="1894051"/>
                <a:gridCol w="7493880"/>
              </a:tblGrid>
              <a:tr h="297242">
                <a:tc gridSpan="3"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/>
                        <a:t>Lab</a:t>
                      </a:r>
                      <a:r>
                        <a:rPr lang="en-US" sz="1800" b="1"/>
                        <a:t> </a:t>
                      </a:r>
                      <a:r>
                        <a:rPr lang="en-US" sz="1800" b="1"/>
                        <a:t>Course Plan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41524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Week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Chapters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Session Topic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8061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9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Managing Tables</a:t>
                      </a:r>
                      <a:endParaRPr/>
                    </a:p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[ER Model and DDL/DML Statements and Constraints: 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Labwork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Task-3]</a:t>
                      </a:r>
                      <a:endParaRPr lang="en-US" sz="2000" b="1"/>
                    </a:p>
                  </a:txBody>
                  <a:tcPr marL="27965" marR="27965" marT="27965" marB="27965" anchor="ctr"/>
                </a:tc>
              </a:tr>
              <a:tr h="710992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10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Managing Constraints 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589133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11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Managing Views and Users Access &amp; Security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66041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12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Server Installation and Creating Databases and Querying DBs</a:t>
                      </a:r>
                      <a:endParaRPr lang="en-US" sz="2000"/>
                    </a:p>
                  </a:txBody>
                  <a:tcPr marL="27965" marR="27965" marT="27965" marB="27965" anchor="ctr"/>
                </a:tc>
              </a:tr>
              <a:tr h="56022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13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Server Creating Databases and Querying DBs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[SQL Server DB: 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Labwork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Task-4/Lab Assign-4 ]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4412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14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Exporting, Importing and Migrating Databases between Oracle and SQL Server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53334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15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Final Exam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[Lab Participation / Viva : 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Labwork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Task-5 ]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  <a:tr h="30975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16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/>
                        <a:t>-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  <a:tc>
                  <a:txBody>
                    <a:bodyPr/>
                    <a:p>
                      <a:pPr marL="0" marR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Demonstration (Tentative) OR in 15</a:t>
                      </a:r>
                      <a:r>
                        <a:rPr lang="en-US" sz="1800" b="1" baseline="30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week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27965" marR="27965" marT="27965" marB="2796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1748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b="1"/>
              <a:t>Theory</a:t>
            </a:r>
            <a:r>
              <a:rPr lang="en-US"/>
              <a:t> Marks Distribution and Relevant Details</a:t>
            </a:r>
            <a:endParaRPr/>
          </a:p>
        </p:txBody>
      </p:sp>
      <p:graphicFrame>
        <p:nvGraphicFramePr>
          <p:cNvPr id="940703824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838200" y="1690682"/>
          <a:ext cx="10515601" cy="384492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626796"/>
                <a:gridCol w="1577761"/>
                <a:gridCol w="1577761"/>
                <a:gridCol w="1577761"/>
                <a:gridCol w="1577761"/>
                <a:gridCol w="1577761"/>
              </a:tblGrid>
              <a:tr h="478739">
                <a:tc gridSpan="6"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 b="1"/>
                        <a:t>Theory Marks Distribution</a:t>
                      </a:r>
                      <a:endParaRPr lang="en-US" sz="2400" b="1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478739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/>
                        <a:t>Marks Head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0"/>
                        <a:t>Total Frequency</a:t>
                      </a:r>
                      <a:endParaRPr lang="en-US" sz="2000" b="0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0"/>
                        <a:t>Total Exempted</a:t>
                      </a:r>
                      <a:endParaRPr lang="en-US" sz="2000" b="0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0"/>
                        <a:t>Frequency</a:t>
                      </a:r>
                      <a:endParaRPr lang="en-US" sz="2000" b="0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0"/>
                        <a:t>Total Marks /Head</a:t>
                      </a:r>
                      <a:endParaRPr lang="en-US" sz="2000" b="0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0"/>
                        <a:t>For D Grade Holder(s)</a:t>
                      </a:r>
                      <a:endParaRPr lang="en-US" sz="2000" b="0">
                        <a:latin typeface="Times New Roman"/>
                        <a:ea typeface="Times New Roman"/>
                      </a:endParaRPr>
                    </a:p>
                  </a:txBody>
                  <a:tcPr marL="57150" marR="57150" marT="57150" marB="57150" anchor="ctr"/>
                </a:tc>
              </a:tr>
              <a:tr h="478739"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/>
                        <a:t>Midterm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20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Included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</a:tr>
              <a:tr h="478739"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/>
                        <a:t>Final Exam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40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Included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</a:tr>
              <a:tr h="478739"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/>
                        <a:t>Project / Viva</a:t>
                      </a:r>
                      <a:endParaRPr lang="en-US" sz="2000" b="1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1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20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Included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</a:tr>
              <a:tr h="478739"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  <a:endParaRPr/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/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/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/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/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indent="0" algn="r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Included</a:t>
                      </a:r>
                      <a:endParaRPr lang="en-US" sz="20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76200" marT="57150" marB="57150" anchor="ctr"/>
                </a:tc>
              </a:tr>
              <a:tr h="478739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/>
                        <a:t> 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/>
                        <a:t>Total Marks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/>
                        <a:t>100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/>
                        <a:t>100 (For DGs)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 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/>
                </a:tc>
                <a:tc>
                  <a:txBody>
                    <a:bodyPr/>
                    <a:p>
                      <a:pPr marL="0" marR="0" algn="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400"/>
                        <a:t> 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57150" marR="76200" marT="57150" marB="571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6926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Marks Distribution and Relevant Details</a:t>
            </a:r>
            <a:endParaRPr/>
          </a:p>
        </p:txBody>
      </p:sp>
      <p:sp>
        <p:nvSpPr>
          <p:cNvPr id="997078406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763434"/>
          </a:xfrm>
        </p:spPr>
        <p:txBody>
          <a:bodyPr>
            <a:normAutofit fontScale="92500" lnSpcReduction="20000"/>
          </a:bodyPr>
          <a:lstStyle/>
          <a:p>
            <a:pPr>
              <a:buFont typeface="Wingdings"/>
              <a:buChar char="§"/>
              <a:defRPr/>
            </a:pPr>
            <a:r>
              <a:rPr lang="en-US"/>
              <a:t>Test (Part I &amp; II):</a:t>
            </a:r>
            <a:endParaRPr/>
          </a:p>
          <a:p>
            <a:pPr lvl="1">
              <a:defRPr/>
            </a:pPr>
            <a:r>
              <a:rPr lang="en-US"/>
              <a:t>Database Design, Normalization and Implementation (</a:t>
            </a:r>
            <a:r>
              <a:rPr lang="en-US" b="1"/>
              <a:t>Part-I before Midterm and Part-II after Midterm</a:t>
            </a:r>
            <a:r>
              <a:rPr lang="en-US"/>
              <a:t>)</a:t>
            </a:r>
            <a:endParaRPr/>
          </a:p>
          <a:p>
            <a:pPr lvl="1">
              <a:defRPr/>
            </a:pPr>
            <a:r>
              <a:rPr lang="en-US"/>
              <a:t>Submission guidelines will be announced both in class and </a:t>
            </a:r>
            <a:r>
              <a:rPr lang="en-US"/>
              <a:t>github</a:t>
            </a:r>
            <a:r>
              <a:rPr lang="en-US"/>
              <a:t>.</a:t>
            </a:r>
            <a:endParaRPr/>
          </a:p>
          <a:p>
            <a:pPr lvl="1"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r>
              <a:rPr lang="en-US"/>
              <a:t>Midterm (1):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/>
              <a:t>Tentatively in 7</a:t>
            </a:r>
            <a:r>
              <a:rPr lang="en-US" baseline="30000"/>
              <a:t>th</a:t>
            </a:r>
            <a:r>
              <a:rPr lang="en-US"/>
              <a:t> or in 8</a:t>
            </a:r>
            <a:r>
              <a:rPr lang="en-US" baseline="30000"/>
              <a:t>th</a:t>
            </a:r>
            <a:r>
              <a:rPr lang="en-US"/>
              <a:t> Week.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/>
              <a:t>This will comprise around half of course. We’ll discuss more on this in 6</a:t>
            </a:r>
            <a:r>
              <a:rPr lang="en-US" baseline="30000"/>
              <a:t>th</a:t>
            </a:r>
            <a:r>
              <a:rPr lang="en-US"/>
              <a:t> week.</a:t>
            </a:r>
            <a:endParaRPr/>
          </a:p>
          <a:p>
            <a:pPr lvl="1">
              <a:buFont typeface="Wingdings"/>
              <a:buChar char="§"/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r>
              <a:rPr lang="en-US"/>
              <a:t>Final Term (1) :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/>
              <a:t>Tentatively in 15</a:t>
            </a:r>
            <a:r>
              <a:rPr lang="en-US" baseline="30000"/>
              <a:t>th</a:t>
            </a:r>
            <a:r>
              <a:rPr lang="en-US"/>
              <a:t> 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/>
              <a:t>Mainly post midterm lectures.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/>
              <a:t>However a few select topics from prior to midterm can be included (depending on the response and progress of the students in the class).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 sz="3600"/>
          </a:p>
          <a:p>
            <a:pPr>
              <a:buFont typeface="Wingdings"/>
              <a:buChar char="§"/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163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Marks Distribution and Relevant Details</a:t>
            </a:r>
            <a:endParaRPr/>
          </a:p>
        </p:txBody>
      </p:sp>
      <p:sp>
        <p:nvSpPr>
          <p:cNvPr id="174133759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 lvl="1">
              <a:buFont typeface="Wingdings"/>
              <a:buChar char="§"/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r>
              <a:rPr lang="en-US"/>
              <a:t>Lab Handson (Lab): </a:t>
            </a:r>
            <a:endParaRPr/>
          </a:p>
          <a:p>
            <a:pPr lvl="1">
              <a:defRPr/>
            </a:pPr>
            <a:r>
              <a:rPr lang="en-US"/>
              <a:t>Every week</a:t>
            </a:r>
            <a:endParaRPr/>
          </a:p>
          <a:p>
            <a:pPr lvl="1">
              <a:defRPr/>
            </a:pPr>
            <a:r>
              <a:rPr lang="en-US"/>
              <a:t>On relevant course topics / exercises.</a:t>
            </a:r>
            <a:endParaRPr/>
          </a:p>
          <a:p>
            <a:pPr lvl="1">
              <a:defRPr/>
            </a:pPr>
            <a:r>
              <a:rPr lang="en-US"/>
              <a:t>Submission guidelines will be announced both in class and on course website.</a:t>
            </a:r>
            <a:endParaRPr/>
          </a:p>
          <a:p>
            <a:pPr lvl="1"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r>
              <a:rPr lang="en-US"/>
              <a:t>Project (</a:t>
            </a:r>
            <a:r>
              <a:rPr lang="en-US"/>
              <a:t>Th</a:t>
            </a:r>
            <a:r>
              <a:rPr lang="en-US"/>
              <a:t> + Lab): </a:t>
            </a:r>
            <a:endParaRPr/>
          </a:p>
          <a:p>
            <a:pPr lvl="1">
              <a:defRPr/>
            </a:pPr>
            <a:r>
              <a:rPr lang="en-US"/>
              <a:t>Same project to be counted both in theory and lab.</a:t>
            </a:r>
            <a:endParaRPr/>
          </a:p>
          <a:p>
            <a:pPr lvl="1">
              <a:defRPr/>
            </a:pPr>
            <a:r>
              <a:rPr lang="en-US"/>
              <a:t>Group based project (2 to 3 students per group – depending on the class size).</a:t>
            </a:r>
            <a:endParaRPr/>
          </a:p>
          <a:p>
            <a:pPr lvl="1">
              <a:defRPr/>
            </a:pPr>
            <a:r>
              <a:rPr lang="en-US"/>
              <a:t>Submission - 15</a:t>
            </a:r>
            <a:r>
              <a:rPr lang="en-US" baseline="30000"/>
              <a:t>th</a:t>
            </a:r>
            <a:r>
              <a:rPr lang="en-US"/>
              <a:t> Week</a:t>
            </a:r>
            <a:endParaRPr/>
          </a:p>
          <a:p>
            <a:pPr lvl="1">
              <a:defRPr/>
            </a:pPr>
            <a:r>
              <a:rPr lang="en-US"/>
              <a:t>Presentation - 16</a:t>
            </a:r>
            <a:r>
              <a:rPr lang="en-US" baseline="30000"/>
              <a:t>th</a:t>
            </a:r>
            <a:r>
              <a:rPr lang="en-US"/>
              <a:t> week.</a:t>
            </a:r>
            <a:endParaRPr/>
          </a:p>
          <a:p>
            <a:pPr lvl="1">
              <a:defRPr/>
            </a:pPr>
            <a:r>
              <a:rPr lang="en-US"/>
              <a:t>Sample project listings will be posted on website and the details would be discussed around 4</a:t>
            </a:r>
            <a:r>
              <a:rPr lang="en-US" baseline="30000"/>
              <a:t>th</a:t>
            </a:r>
            <a:r>
              <a:rPr lang="en-US"/>
              <a:t> / 5</a:t>
            </a:r>
            <a:r>
              <a:rPr lang="en-US" baseline="30000"/>
              <a:t>th</a:t>
            </a:r>
            <a:r>
              <a:rPr lang="en-US"/>
              <a:t> week in class.</a:t>
            </a:r>
            <a:endParaRPr/>
          </a:p>
          <a:p>
            <a:pPr lvl="1">
              <a:buFont typeface="Wingdings"/>
              <a:buChar char="§"/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4095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Learning Methodology</a:t>
            </a:r>
            <a:endParaRPr/>
          </a:p>
        </p:txBody>
      </p:sp>
      <p:sp>
        <p:nvSpPr>
          <p:cNvPr id="17857666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Lecture Notes/Slides</a:t>
            </a:r>
            <a:endParaRPr/>
          </a:p>
          <a:p>
            <a:pPr lvl="1">
              <a:defRPr/>
            </a:pPr>
            <a:r>
              <a:rPr lang="en-US"/>
              <a:t>To be posted on Website.</a:t>
            </a:r>
            <a:endParaRPr/>
          </a:p>
          <a:p>
            <a:pPr>
              <a:defRPr/>
            </a:pPr>
            <a:r>
              <a:rPr lang="en-US"/>
              <a:t>Lab work</a:t>
            </a:r>
            <a:endParaRPr/>
          </a:p>
          <a:p>
            <a:pPr>
              <a:defRPr/>
            </a:pPr>
            <a:r>
              <a:rPr lang="en-US"/>
              <a:t>Handouts</a:t>
            </a:r>
            <a:endParaRPr/>
          </a:p>
          <a:p>
            <a:pPr>
              <a:defRPr/>
            </a:pPr>
            <a:r>
              <a:rPr lang="en-US"/>
              <a:t>Case Study</a:t>
            </a:r>
            <a:endParaRPr/>
          </a:p>
          <a:p>
            <a:pPr>
              <a:defRPr/>
            </a:pPr>
            <a:r>
              <a:rPr lang="en-US"/>
              <a:t>Project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876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Course Website: Materials and Supplies</a:t>
            </a:r>
            <a:endParaRPr/>
          </a:p>
        </p:txBody>
      </p:sp>
      <p:sp>
        <p:nvSpPr>
          <p:cNvPr id="205564712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US"/>
              <a:t>Lecture slides</a:t>
            </a:r>
            <a:endParaRPr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/>
              <a:buChar char="–"/>
              <a:defRPr/>
            </a:pPr>
            <a:r>
              <a:rPr lang="en-US"/>
              <a:t>Download from Course website:</a:t>
            </a:r>
            <a:endParaRPr/>
          </a:p>
          <a:p>
            <a:pPr marL="457200" lvl="1" indent="0" algn="just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b="1">
                <a:solidFill>
                  <a:srgbClr val="C00000"/>
                </a:solidFill>
              </a:rPr>
              <a:t>https://github.com/asimriaz/DatabaseSystems-Spring-2026</a:t>
            </a:r>
            <a:endParaRPr/>
          </a:p>
          <a:p>
            <a:pPr>
              <a:defRPr/>
            </a:pPr>
            <a:r>
              <a:rPr lang="en-US"/>
              <a:t>SQL Query Language mainly in </a:t>
            </a:r>
            <a:r>
              <a:rPr lang="en-US"/>
              <a:t>PostgresSQL</a:t>
            </a:r>
            <a:r>
              <a:rPr lang="en-US"/>
              <a:t> Environment would be taught in both Theory Classes and Labs.</a:t>
            </a:r>
            <a:endParaRPr/>
          </a:p>
          <a:p>
            <a:pPr>
              <a:defRPr/>
            </a:pPr>
            <a:r>
              <a:rPr lang="en-US"/>
              <a:t>Postgres 18 database environment would be used in Labs.</a:t>
            </a:r>
            <a:endParaRPr/>
          </a:p>
          <a:p>
            <a:pPr>
              <a:defRPr/>
            </a:pPr>
            <a:r>
              <a:rPr lang="en-US"/>
              <a:t>REST API based (Alpine.js) Environment along with SQL Developer tool would be taught. </a:t>
            </a:r>
            <a:endParaRPr/>
          </a:p>
          <a:p>
            <a:pPr>
              <a:defRPr/>
            </a:pPr>
            <a:r>
              <a:rPr lang="en-US"/>
              <a:t>In later part of  course, </a:t>
            </a:r>
            <a:r>
              <a:rPr lang="en-US"/>
              <a:t>pgAdmin</a:t>
            </a:r>
            <a:r>
              <a:rPr lang="en-US"/>
              <a:t> (GUI) will also be introduced.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506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Class Conduct</a:t>
            </a:r>
            <a:endParaRPr/>
          </a:p>
        </p:txBody>
      </p:sp>
      <p:sp>
        <p:nvSpPr>
          <p:cNvPr id="48898574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/>
              <a:t>Let’s not come to learn in Fish Markets </a:t>
            </a:r>
            <a:r>
              <a:rPr lang="en-US"/>
              <a:t>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en-US"/>
              <a:t>Students are not allowed to eat/drink in class. We already have lots of places and time to do that. </a:t>
            </a:r>
            <a:r>
              <a:rPr lang="en-US"/>
              <a:t></a:t>
            </a:r>
            <a:endParaRPr lang="en-US"/>
          </a:p>
          <a:p>
            <a:pPr algn="just">
              <a:lnSpc>
                <a:spcPct val="150000"/>
              </a:lnSpc>
              <a:defRPr/>
            </a:pPr>
            <a:r>
              <a:rPr lang="en-US"/>
              <a:t>Mobile phones should be put on silent mode.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en-US"/>
              <a:t>Attendance of late arrivals is marked as LATE which is counted as HALF ABSENT.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en-US"/>
              <a:t>Students are encouraged to ask questions and participate in the discussions when required. The sad part of it all is that </a:t>
            </a:r>
            <a:r>
              <a:rPr lang="en-US" b="1" u="sng"/>
              <a:t>questions and discussions </a:t>
            </a:r>
            <a:r>
              <a:rPr lang="en-US"/>
              <a:t>must be relevant to topic at hand and directed or had with the Instructor </a:t>
            </a:r>
            <a:r>
              <a:rPr lang="en-US"/>
              <a:t></a:t>
            </a:r>
            <a:endParaRPr/>
          </a:p>
          <a:p>
            <a:pPr algn="just">
              <a:lnSpc>
                <a:spcPct val="150000"/>
              </a:lnSpc>
              <a:defRPr/>
            </a:pPr>
            <a:endParaRPr lang="en-US"/>
          </a:p>
          <a:p>
            <a:pPr algn="just">
              <a:lnSpc>
                <a:spcPct val="150000"/>
              </a:lnSpc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1285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Academic Dishonesty</a:t>
            </a:r>
            <a:endParaRPr/>
          </a:p>
        </p:txBody>
      </p:sp>
      <p:sp>
        <p:nvSpPr>
          <p:cNvPr id="15493040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/>
              <a:t>Plagiarism is strictly prohibited, and if any violation or infringement of the SZABIST’s official policy is observed, the same would be prosecuted to the fullest extent possible.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95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Class Attendance</a:t>
            </a:r>
            <a:endParaRPr/>
          </a:p>
        </p:txBody>
      </p:sp>
      <p:sp>
        <p:nvSpPr>
          <p:cNvPr id="321066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/>
              <a:t>SZABIST Official Attendance Policy would be observed.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/>
              <a:t>Theory: 	3 Absences allowed per course per semester.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/>
              <a:t>Lab:		3 Absences are allowed per course per semester.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/>
              <a:t>Late:	Marked as Half Absent.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144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Grading Policy</a:t>
            </a:r>
            <a:endParaRPr/>
          </a:p>
        </p:txBody>
      </p:sp>
      <p:sp>
        <p:nvSpPr>
          <p:cNvPr id="21427852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As per SZABIST official Policy posted on ZABDESK.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1930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Instructor’s Contact and Consultation Hours</a:t>
            </a:r>
            <a:endParaRPr/>
          </a:p>
        </p:txBody>
      </p:sp>
      <p:sp>
        <p:nvSpPr>
          <p:cNvPr id="30786247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b="1"/>
              <a:t>Consultation Hours:</a:t>
            </a:r>
            <a:r>
              <a:rPr lang="en-US"/>
              <a:t>		</a:t>
            </a:r>
            <a:r>
              <a:rPr lang="en-US"/>
              <a:t>Ws</a:t>
            </a:r>
            <a:r>
              <a:rPr lang="en-US"/>
              <a:t> &amp; </a:t>
            </a:r>
            <a:r>
              <a:rPr lang="en-US"/>
              <a:t>Rs</a:t>
            </a:r>
            <a:r>
              <a:rPr lang="en-US"/>
              <a:t>           14:00 to 15:00 </a:t>
            </a:r>
            <a:endParaRPr/>
          </a:p>
          <a:p>
            <a:pPr marL="0" indent="0">
              <a:buNone/>
              <a:defRPr/>
            </a:pPr>
            <a:r>
              <a:rPr lang="en-US"/>
              <a:t>					Fs                      15:00 to 16:00							</a:t>
            </a:r>
            <a:r>
              <a:rPr lang="en-US" u="sng">
                <a:solidFill>
                  <a:srgbClr val="C00000"/>
                </a:solidFill>
              </a:rPr>
              <a:t>or for alternate timings please email 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C00000"/>
                </a:solidFill>
              </a:rPr>
              <a:t>					</a:t>
            </a:r>
            <a:r>
              <a:rPr lang="en-US" u="sng">
                <a:solidFill>
                  <a:srgbClr val="C00000"/>
                </a:solidFill>
              </a:rPr>
              <a:t>beforehand</a:t>
            </a:r>
            <a:endParaRPr lang="en-US" u="sng"/>
          </a:p>
          <a:p>
            <a:pPr marL="0" indent="0">
              <a:buNone/>
              <a:defRPr/>
            </a:pPr>
            <a:endParaRPr lang="en-US" u="sng"/>
          </a:p>
          <a:p>
            <a:pPr>
              <a:defRPr/>
            </a:pPr>
            <a:r>
              <a:rPr lang="en-US" b="1"/>
              <a:t>Office:</a:t>
            </a:r>
            <a:r>
              <a:rPr lang="en-US"/>
              <a:t> 	Room 301, 3</a:t>
            </a:r>
            <a:r>
              <a:rPr lang="en-US" baseline="30000"/>
              <a:t>rd</a:t>
            </a:r>
            <a:r>
              <a:rPr lang="en-US"/>
              <a:t> Floor, 100 Campus</a:t>
            </a:r>
            <a:endParaRPr/>
          </a:p>
          <a:p>
            <a:pPr>
              <a:defRPr/>
            </a:pPr>
            <a:r>
              <a:rPr lang="en-US" b="1"/>
              <a:t>Email: </a:t>
            </a:r>
            <a:r>
              <a:rPr lang="en-US"/>
              <a:t>	</a:t>
            </a:r>
            <a:r>
              <a:rPr lang="en-US" u="sng">
                <a:hlinkClick r:id="rId3" tooltip=""/>
              </a:rPr>
              <a:t>asim.riaz@szabist.edu.pk</a:t>
            </a:r>
            <a:r>
              <a:rPr lang="en-US"/>
              <a:t>, </a:t>
            </a:r>
            <a:r>
              <a:rPr lang="en-US" u="sng">
                <a:hlinkClick r:id="rId4" tooltip=""/>
              </a:rPr>
              <a:t>asim.riaz@szabist.pk</a:t>
            </a:r>
            <a:r>
              <a:rPr lang="en-US"/>
              <a:t> </a:t>
            </a:r>
            <a:endParaRPr/>
          </a:p>
          <a:p>
            <a:pPr>
              <a:defRPr/>
            </a:pPr>
            <a:r>
              <a:rPr lang="en-US" b="1"/>
              <a:t>Phone</a:t>
            </a:r>
            <a:r>
              <a:rPr lang="en-US"/>
              <a:t>:	+92 21 3582 4461-63   Ext: 243   (SZABIST 100)</a:t>
            </a:r>
            <a:endParaRPr/>
          </a:p>
          <a:p>
            <a:pPr lvl="3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001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Questions?</a:t>
            </a:r>
            <a:endParaRPr/>
          </a:p>
        </p:txBody>
      </p:sp>
      <p:sp>
        <p:nvSpPr>
          <p:cNvPr id="14060493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/>
              <a:t>I am sure you have many questions, please don’t hesitate to ask </a:t>
            </a:r>
            <a:r>
              <a:rPr lang="en-US" sz="4400">
                <a:solidFill>
                  <a:srgbClr val="FF0000"/>
                </a:solidFill>
              </a:rPr>
              <a:t>relevant</a:t>
            </a:r>
            <a:r>
              <a:rPr lang="en-US"/>
              <a:t> questions, if any. </a:t>
            </a:r>
            <a:r>
              <a:rPr lang="en-US"/>
              <a:t>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0703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Lecture Outline</a:t>
            </a:r>
            <a:endParaRPr/>
          </a:p>
        </p:txBody>
      </p:sp>
      <p:sp>
        <p:nvSpPr>
          <p:cNvPr id="15861037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What is Database?</a:t>
            </a:r>
            <a:endParaRPr/>
          </a:p>
          <a:p>
            <a:pPr>
              <a:defRPr/>
            </a:pPr>
            <a:r>
              <a:rPr lang="en-US"/>
              <a:t>What is DBMS?</a:t>
            </a:r>
            <a:endParaRPr/>
          </a:p>
          <a:p>
            <a:pPr>
              <a:defRPr/>
            </a:pPr>
            <a:r>
              <a:rPr lang="en-US"/>
              <a:t>Goal of DBMS</a:t>
            </a:r>
            <a:endParaRPr/>
          </a:p>
          <a:p>
            <a:pPr>
              <a:defRPr/>
            </a:pPr>
            <a:r>
              <a:rPr lang="en-US"/>
              <a:t>Why use DBMS?</a:t>
            </a:r>
            <a:endParaRPr/>
          </a:p>
          <a:p>
            <a:pPr>
              <a:defRPr/>
            </a:pPr>
            <a:r>
              <a:rPr lang="en-US"/>
              <a:t>Files </a:t>
            </a:r>
            <a:r>
              <a:rPr lang="en-US"/>
              <a:t>vs</a:t>
            </a:r>
            <a:r>
              <a:rPr lang="en-US"/>
              <a:t> DBMS</a:t>
            </a:r>
            <a:endParaRPr/>
          </a:p>
          <a:p>
            <a:pPr>
              <a:defRPr/>
            </a:pPr>
            <a:r>
              <a:rPr lang="en-US"/>
              <a:t>Database System Applications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5346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is Database?</a:t>
            </a:r>
            <a:endParaRPr/>
          </a:p>
        </p:txBody>
      </p:sp>
      <p:sp>
        <p:nvSpPr>
          <p:cNvPr id="1162997202" name="Content Placeholder 3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Any answers?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3474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is Database?</a:t>
            </a:r>
            <a:endParaRPr/>
          </a:p>
        </p:txBody>
      </p:sp>
      <p:sp>
        <p:nvSpPr>
          <p:cNvPr id="1687442397" name="Content Placeholder 3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Collection of data.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b="1"/>
              <a:t>OR</a:t>
            </a:r>
            <a:r>
              <a:rPr lang="en-US"/>
              <a:t> more specifically collection of interrelated or integrated data, containing information specific to an enterprise.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5613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is DBMS?</a:t>
            </a:r>
            <a:endParaRPr/>
          </a:p>
        </p:txBody>
      </p:sp>
      <p:sp>
        <p:nvSpPr>
          <p:cNvPr id="804533723" name="Content Placeholder 3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Any answers?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7180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What is DBMS?</a:t>
            </a:r>
            <a:endParaRPr/>
          </a:p>
        </p:txBody>
      </p:sp>
      <p:sp>
        <p:nvSpPr>
          <p:cNvPr id="173603488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A Database Management System (DBMS) is a software package designed to store and manage databases.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A very large, integrated or interrelated collection of data and a set of programs to access those data.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580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Goal of DBMS</a:t>
            </a:r>
            <a:endParaRPr/>
          </a:p>
        </p:txBody>
      </p:sp>
      <p:sp>
        <p:nvSpPr>
          <p:cNvPr id="125252062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/>
              <a:t>Provide a way to </a:t>
            </a:r>
            <a:r>
              <a:rPr lang="en-US" b="1" i="1"/>
              <a:t>store </a:t>
            </a:r>
            <a:r>
              <a:rPr lang="en-US"/>
              <a:t>and </a:t>
            </a:r>
            <a:r>
              <a:rPr lang="en-US" b="1" i="1"/>
              <a:t>retrieve </a:t>
            </a:r>
            <a:r>
              <a:rPr lang="en-US"/>
              <a:t>database information that is both </a:t>
            </a:r>
            <a:r>
              <a:rPr lang="en-US" b="1" i="1"/>
              <a:t>convenient</a:t>
            </a:r>
            <a:r>
              <a:rPr lang="en-US"/>
              <a:t> and </a:t>
            </a:r>
            <a:r>
              <a:rPr lang="en-US" b="1" i="1"/>
              <a:t>efficient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961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Why use DBMS?</a:t>
            </a:r>
            <a:endParaRPr/>
          </a:p>
        </p:txBody>
      </p:sp>
      <p:sp>
        <p:nvSpPr>
          <p:cNvPr id="16743423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Any answers?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0538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Why use DBMS?</a:t>
            </a:r>
            <a:endParaRPr/>
          </a:p>
        </p:txBody>
      </p:sp>
      <p:sp>
        <p:nvSpPr>
          <p:cNvPr id="74689177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Data independence and efficient access.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Reduced application development time.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Data integrity and security.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Uniform data administration.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Concurrent access, recovery from crashes.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9750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 Files </a:t>
            </a:r>
            <a:r>
              <a:rPr lang="en-US"/>
              <a:t>vs</a:t>
            </a:r>
            <a:r>
              <a:rPr lang="en-US"/>
              <a:t> DBMS</a:t>
            </a:r>
            <a:endParaRPr/>
          </a:p>
        </p:txBody>
      </p:sp>
      <p:sp>
        <p:nvSpPr>
          <p:cNvPr id="38053282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It is very difficult to manage data in files. The reasons could be obvious when we understand the drawbacks of the Files.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>
                <a:ea typeface="ＭＳ Ｐゴシック"/>
              </a:rPr>
              <a:t>Drawbacks of using file systems to store data: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Data redundancy and inconsistency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Multiple file formats, duplication of information in different files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Difficulty in accessing data 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Need to write a new program to carry out each new task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Data isolation 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Multiple files and formats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Integrity problems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Integrity constraints  (e.g., account balance &gt; 0) become “buried” in program code rather than being stated explicitly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Hard to add new constraints or change existing ones</a:t>
            </a:r>
            <a:endParaRPr/>
          </a:p>
          <a:p>
            <a:pPr lvl="1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9148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Files </a:t>
            </a:r>
            <a:r>
              <a:rPr lang="en-US"/>
              <a:t>vs</a:t>
            </a:r>
            <a:r>
              <a:rPr lang="en-US"/>
              <a:t> DBMS (cont.)</a:t>
            </a:r>
            <a:endParaRPr/>
          </a:p>
        </p:txBody>
      </p:sp>
      <p:sp>
        <p:nvSpPr>
          <p:cNvPr id="131886593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en-US">
                <a:ea typeface="ＭＳ Ｐゴシック"/>
              </a:rPr>
              <a:t>Atomicity of updates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Failures may leave database in an inconsistent state with partial updates carried out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Example: Transfer of funds from one account to another should either complete or not happen at all</a:t>
            </a:r>
            <a:endParaRPr/>
          </a:p>
          <a:p>
            <a:pPr>
              <a:defRPr/>
            </a:pPr>
            <a:r>
              <a:rPr lang="en-US">
                <a:ea typeface="ＭＳ Ｐゴシック"/>
              </a:rPr>
              <a:t>Concurrent access by multiple users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Concurrent access needed for performance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Uncontrolled concurrent accesses can lead to inconsistencies</a:t>
            </a:r>
            <a:endParaRPr/>
          </a:p>
          <a:p>
            <a:pPr lvl="2">
              <a:defRPr/>
            </a:pPr>
            <a:r>
              <a:rPr lang="en-US">
                <a:ea typeface="ＭＳ Ｐゴシック"/>
              </a:rPr>
              <a:t>Example: Two people reading a balance (say 100) and updating it by withdrawing money (say 50 each) at the same time</a:t>
            </a:r>
            <a:endParaRPr/>
          </a:p>
          <a:p>
            <a:pPr>
              <a:defRPr/>
            </a:pPr>
            <a:r>
              <a:rPr lang="en-US">
                <a:ea typeface="ＭＳ Ｐゴシック"/>
              </a:rPr>
              <a:t>Security problems</a:t>
            </a:r>
            <a:endParaRPr/>
          </a:p>
          <a:p>
            <a:pPr lvl="1">
              <a:defRPr/>
            </a:pPr>
            <a:r>
              <a:rPr lang="en-US">
                <a:ea typeface="ＭＳ Ｐゴシック"/>
              </a:rPr>
              <a:t>Hard to provide user access to some, but not all, data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759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References: Books</a:t>
            </a:r>
            <a:endParaRPr/>
          </a:p>
        </p:txBody>
      </p:sp>
      <p:sp>
        <p:nvSpPr>
          <p:cNvPr id="2065110577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914400" lvl="1" indent="-457200">
              <a:buAutoNum type="alphaUcPeriod"/>
              <a:defRPr/>
            </a:pPr>
            <a:r>
              <a:rPr lang="en-US" b="1">
                <a:solidFill>
                  <a:srgbClr val="00B050"/>
                </a:solidFill>
              </a:rPr>
              <a:t>Database System Concepts  </a:t>
            </a:r>
            <a:endParaRPr/>
          </a:p>
          <a:p>
            <a:pPr marL="457200" lvl="1" indent="0">
              <a:buNone/>
              <a:defRPr/>
            </a:pPr>
            <a:r>
              <a:rPr lang="en-US">
                <a:solidFill>
                  <a:srgbClr val="00B050"/>
                </a:solidFill>
              </a:rPr>
              <a:t>	by </a:t>
            </a:r>
            <a:r>
              <a:rPr lang="en-US">
                <a:solidFill>
                  <a:srgbClr val="00B050"/>
                </a:solidFill>
              </a:rPr>
              <a:t>Silberschatz</a:t>
            </a:r>
            <a:r>
              <a:rPr lang="en-US">
                <a:solidFill>
                  <a:srgbClr val="00B050"/>
                </a:solidFill>
              </a:rPr>
              <a:t>, H. F. </a:t>
            </a:r>
            <a:r>
              <a:rPr lang="en-US">
                <a:solidFill>
                  <a:srgbClr val="00B050"/>
                </a:solidFill>
              </a:rPr>
              <a:t>Korth</a:t>
            </a:r>
            <a:r>
              <a:rPr lang="en-US">
                <a:solidFill>
                  <a:srgbClr val="00B050"/>
                </a:solidFill>
              </a:rPr>
              <a:t> &amp; S. </a:t>
            </a:r>
            <a:r>
              <a:rPr lang="en-US">
                <a:solidFill>
                  <a:srgbClr val="00B050"/>
                </a:solidFill>
              </a:rPr>
              <a:t>Sudarshan</a:t>
            </a:r>
            <a:endParaRPr lang="en-US">
              <a:solidFill>
                <a:srgbClr val="00B050"/>
              </a:solidFill>
            </a:endParaRPr>
          </a:p>
          <a:p>
            <a:pPr marL="457200" lvl="1" indent="0">
              <a:buNone/>
              <a:defRPr/>
            </a:pPr>
            <a:r>
              <a:rPr lang="en-US">
                <a:solidFill>
                  <a:srgbClr val="00B050"/>
                </a:solidFill>
              </a:rPr>
              <a:t>       McGraw Hill, 6th edition, 2010. </a:t>
            </a:r>
            <a:r>
              <a:rPr lang="en-US" b="1">
                <a:solidFill>
                  <a:srgbClr val="00B050"/>
                </a:solidFill>
              </a:rPr>
              <a:t>	</a:t>
            </a:r>
            <a:endParaRPr/>
          </a:p>
          <a:p>
            <a:pPr marL="457200" lvl="1" indent="0">
              <a:buNone/>
              <a:defRPr/>
            </a:pPr>
            <a:endParaRPr lang="en-US" b="1"/>
          </a:p>
          <a:p>
            <a:pPr marL="457200" lvl="1" indent="0">
              <a:buNone/>
              <a:defRPr/>
            </a:pPr>
            <a:r>
              <a:rPr lang="en-US" b="1"/>
              <a:t>B.	Fundamentals of Database Systems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	by R. </a:t>
            </a:r>
            <a:r>
              <a:rPr lang="en-US"/>
              <a:t>Elmasri</a:t>
            </a:r>
            <a:r>
              <a:rPr lang="en-US"/>
              <a:t> &amp; S. B. </a:t>
            </a:r>
            <a:r>
              <a:rPr lang="en-US"/>
              <a:t>Navathe</a:t>
            </a:r>
            <a:r>
              <a:rPr lang="en-US"/>
              <a:t>.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 	Addison Wesley, 6th edition, 2011 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 b="1">
                <a:solidFill>
                  <a:srgbClr val="00B050"/>
                </a:solidFill>
              </a:rPr>
              <a:t>C.  Database Management Systems</a:t>
            </a:r>
            <a:endParaRPr/>
          </a:p>
          <a:p>
            <a:pPr marL="457200" lvl="1" indent="0">
              <a:buNone/>
              <a:defRPr/>
            </a:pPr>
            <a:r>
              <a:rPr lang="en-US">
                <a:solidFill>
                  <a:srgbClr val="00B050"/>
                </a:solidFill>
              </a:rPr>
              <a:t>	Raghu </a:t>
            </a:r>
            <a:r>
              <a:rPr lang="en-US">
                <a:solidFill>
                  <a:srgbClr val="00B050"/>
                </a:solidFill>
              </a:rPr>
              <a:t>Ramakrishnan</a:t>
            </a:r>
            <a:endParaRPr lang="en-US">
              <a:solidFill>
                <a:srgbClr val="00B050"/>
              </a:solidFill>
            </a:endParaRPr>
          </a:p>
          <a:p>
            <a:pPr marL="457200" lvl="1" indent="0">
              <a:buNone/>
              <a:defRPr/>
            </a:pPr>
            <a:r>
              <a:rPr lang="en-US">
                <a:solidFill>
                  <a:srgbClr val="00B050"/>
                </a:solidFill>
              </a:rPr>
              <a:t>	McGraw Hill, 3rd Edition, 2003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endParaRPr lang="en-US" b="1"/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endParaRPr lang="en-US"/>
          </a:p>
        </p:txBody>
      </p:sp>
      <p:sp>
        <p:nvSpPr>
          <p:cNvPr id="1423080776" name="Slide Number Placeholder 4"/>
          <p:cNvSpPr>
            <a:spLocks noGrp="1"/>
          </p:cNvSpPr>
          <p:nvPr>
            <p:ph type="sldNum" sz="quarter" idx="10"/>
          </p:nvPr>
        </p:nvSpPr>
        <p:spPr bwMode="auto">
          <a:xfrm>
            <a:off x="11074400" y="6477000"/>
            <a:ext cx="1035051" cy="314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01498BCA-9687-4903-9960-A494B1D41218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36</Slides>
  <Notes>36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Systems</dc:title>
  <dc:creator>Adeel Ahmed</dc:creator>
  <cp:lastModifiedBy/>
  <cp:revision>272</cp:revision>
  <dcterms:created xsi:type="dcterms:W3CDTF">2016-01-09T11:48:26Z</dcterms:created>
  <dcterms:modified xsi:type="dcterms:W3CDTF">2026-02-18T10:56:30Z</dcterms:modified>
</cp:coreProperties>
</file>